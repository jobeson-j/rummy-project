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C624699-DAE9-295F-2777-B85C7489C35F}">
          <p14:sldIdLst>
            <p14:sldId id="256"/>
            <p14:sldId id="257"/>
            <p14:sldId id="258"/>
          </p14:sldIdLst>
        </p14:section>
        <p14:section name="Literature Survey" id="{50B310E2-F9B6-4930-C4F2-155852B1571C}">
          <p14:sldIdLst>
            <p14:sldId id="259"/>
            <p14:sldId id="260"/>
            <p14:sldId id="261"/>
          </p14:sldIdLst>
        </p14:section>
        <p14:section name="System Design" id="{63895D6F-AAF3-18AE-49C3-B8A82921C55F}">
          <p14:sldIdLst>
            <p14:sldId id="262"/>
            <p14:sldId id="263"/>
            <p14:sldId id="264"/>
          </p14:sldIdLst>
        </p14:section>
        <p14:section name="Modules" id="{3B7B93C9-F98D-643F-E386-9D3CE2171129}">
          <p14:sldIdLst>
            <p14:sldId id="265"/>
            <p14:sldId id="266"/>
            <p14:sldId id="267"/>
          </p14:sldIdLst>
        </p14:section>
        <p14:section name="Results" id="{E63915D0-624F-899C-4DA1-C55E4C7D5125}">
          <p14:sldIdLst>
            <p14:sldId id="268"/>
            <p14:sldId id="269"/>
            <p14:sldId id="270"/>
            <p14:sldId id="271"/>
            <p14:sldId id="272"/>
          </p14:sldIdLst>
        </p14:section>
        <p14:section name="Conclusion" id="{71B7166C-42B5-04DF-28D6-916EFBE6566D}">
          <p14:sldIdLst>
            <p14:sldId id="273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C70BFC-4F29-4F23-AF5D-8D37B9970752}" v="1" dt="2026-10-08T16:46:47.2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beson julius" userId="55efd0bcfd99eb83" providerId="LiveId" clId="{549AF501-2A82-4CA3-88FC-2CB448B19B7D}"/>
    <pc:docChg chg="delSld modSld modSection">
      <pc:chgData name="jobeson julius" userId="55efd0bcfd99eb83" providerId="LiveId" clId="{549AF501-2A82-4CA3-88FC-2CB448B19B7D}" dt="2026-10-08T16:46:47.244" v="1"/>
      <pc:docMkLst>
        <pc:docMk/>
      </pc:docMkLst>
      <pc:sldChg chg="del">
        <pc:chgData name="jobeson julius" userId="55efd0bcfd99eb83" providerId="LiveId" clId="{549AF501-2A82-4CA3-88FC-2CB448B19B7D}" dt="2026-10-08T16:46:20.703" v="0" actId="47"/>
        <pc:sldMkLst>
          <pc:docMk/>
          <pc:sldMk cId="0" sldId="274"/>
        </pc:sldMkLst>
      </pc:sldChg>
      <pc:sldChg chg="modSp">
        <pc:chgData name="jobeson julius" userId="55efd0bcfd99eb83" providerId="LiveId" clId="{549AF501-2A82-4CA3-88FC-2CB448B19B7D}" dt="2026-10-08T16:46:47.244" v="1"/>
        <pc:sldMkLst>
          <pc:docMk/>
          <pc:sldMk cId="0" sldId="275"/>
        </pc:sldMkLst>
        <pc:spChg chg="mod">
          <ac:chgData name="jobeson julius" userId="55efd0bcfd99eb83" providerId="LiveId" clId="{549AF501-2A82-4CA3-88FC-2CB448B19B7D}" dt="2026-10-08T16:46:47.244" v="1"/>
          <ac:spMkLst>
            <pc:docMk/>
            <pc:sldMk cId="0" sldId="275"/>
            <ac:spMk id="6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F3D2E"/>
                </a:solidFill>
                <a:latin typeface="+mj-lt"/>
              </a:defRPr>
            </a:pPr>
            <a:r>
              <a:rPr lang="en-US" sz="1600" b="0" i="0" u="none" strike="noStrike">
                <a:solidFill>
                  <a:srgbClr val="0F3D2E"/>
                </a:solidFill>
                <a:latin typeface="+mj-lt"/>
              </a:rPr>
              <a:t>Head-to-head rounds won (100 rounds each)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 rate of first-named agent</c:v>
                </c:pt>
              </c:strCache>
            </c:strRef>
          </c:tx>
          <c:spPr>
            <a:solidFill>
              <a:srgbClr val="0F5A3E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B1F1D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Medium vs Easy</c:v>
                </c:pt>
                <c:pt idx="1">
                  <c:v>Hard vs Easy</c:v>
                </c:pt>
                <c:pt idx="2">
                  <c:v>Hard vs Medium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66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F5-41A3-BF84-0F3308FBDC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1F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t"/>
        <c:majorGridlines>
          <c:spPr>
            <a:ln w="9525" cap="flat">
              <a:solidFill>
                <a:srgbClr val="E3E8E5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F3D2E"/>
                </a:solidFill>
                <a:latin typeface="+mj-lt"/>
              </a:defRPr>
            </a:pPr>
            <a:r>
              <a:rPr lang="en-IN" sz="1600" b="0" i="0" u="none" strike="noStrike">
                <a:solidFill>
                  <a:srgbClr val="0F3D2E"/>
                </a:solidFill>
                <a:latin typeface="+mj-lt"/>
              </a:rPr>
              <a:t>Mean execution time (ms)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time (ms)</c:v>
                </c:pt>
              </c:strCache>
            </c:strRef>
          </c:tx>
          <c:spPr>
            <a:solidFill>
              <a:srgbClr val="0F5A3E"/>
            </a:solidFill>
            <a:effectLst/>
          </c:spPr>
          <c:invertIfNegative val="0"/>
          <c:dLbls>
            <c:numFmt formatCode="0.0&quot; ms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B1F1D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Hand partitioner (13 cards)</c:v>
                </c:pt>
                <c:pt idx="1">
                  <c:v>Discard simulation (14 cards)</c:v>
                </c:pt>
                <c:pt idx="2">
                  <c:v>Declaration search</c:v>
                </c:pt>
                <c:pt idx="3">
                  <c:v>Easy agent turn</c:v>
                </c:pt>
                <c:pt idx="4">
                  <c:v>Medium agent turn</c:v>
                </c:pt>
                <c:pt idx="5">
                  <c:v>Hard agent turn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22.6</c:v>
                </c:pt>
                <c:pt idx="1">
                  <c:v>39.700000000000003</c:v>
                </c:pt>
                <c:pt idx="2">
                  <c:v>63</c:v>
                </c:pt>
                <c:pt idx="3">
                  <c:v>37.5</c:v>
                </c:pt>
                <c:pt idx="4">
                  <c:v>151.19999999999999</c:v>
                </c:pt>
                <c:pt idx="5">
                  <c:v>146.9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87-4D28-A584-38742E044B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1F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  <c:min val="0"/>
        </c:scaling>
        <c:delete val="0"/>
        <c:axPos val="t"/>
        <c:majorGridlines>
          <c:spPr>
            <a:ln w="9525" cap="flat">
              <a:solidFill>
                <a:srgbClr val="E3E8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141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project: Smart Rummy, a web game where computer players are AI agents built from classical techniques, and a coach explains every move to the player.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Summarise: problem, approach (classical AI only, no machine learning), and the three headline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gap: no rummy app teaches. Then list the five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Earlier rummy and card-game AI: learning agents, Monte Carlo search, and exact meld solvers. None explain their 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Recent work, including two 2026 papers on Indian Rummy itself. Our system adds explanations and a live coach.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gaps, and how our project fills all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top to bottom: the React client talks to FastAPI over REST; the engine runs turns and agents; the AI core holds the algorithms; the data layer models cards and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task environment with PEAS, then why rummy is hard for AI: hidden cards, chance, other players.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 stack and how the pieces fit: React front end, FastAPI back end, Python AI core, Pytest.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 builds the environment: shuffle, joker cut, strict meld rules, and the turn engine. Declarations are verified by backtracking search that memoises dead 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2 is the core algorithm. Explain the lowest-card trick: each card is decided once, so permutations of the same choice are never explored, and memoisation keeps it at about 23 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3 turns evaluation into decisions, gives three difficulty levels as three agent types, and reuses the same computations in the coach.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300 bot-vs-bot rounds, alternating who goes first. Both utility agents clearly beat the reflex agent; Medium and Hard tie because dead-card memory only breaks 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operation runs far faster than the pause between bot moves. All 123 tests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screenshots captured while playing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screenshots captured while playing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screenshots captured while playing the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and four directions for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panel, share the GitHub link,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</a:rPr>
              <a:t>Smart Rummy  ·  Foundations of Artificial Intelligence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Smart Rummy  ·  Foundations of Artificial Intelligence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n-card"/>
          <p:cNvSpPr/>
          <p:nvPr/>
        </p:nvSpPr>
        <p:spPr>
          <a:xfrm rot="-1080000">
            <a:off x="7635240" y="1709928"/>
            <a:ext cx="1737360" cy="24688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" name="fan-rank"/>
          <p:cNvSpPr txBox="1"/>
          <p:nvPr/>
        </p:nvSpPr>
        <p:spPr>
          <a:xfrm rot="-1080000">
            <a:off x="7726680" y="17830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♠</a:t>
            </a:r>
            <a:endParaRPr lang="en-US" sz="1600" dirty="0"/>
          </a:p>
        </p:txBody>
      </p:sp>
      <p:sp>
        <p:nvSpPr>
          <p:cNvPr id="4" name="fan-suit"/>
          <p:cNvSpPr txBox="1"/>
          <p:nvPr/>
        </p:nvSpPr>
        <p:spPr>
          <a:xfrm rot="-1080000">
            <a:off x="8046720" y="24871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♠</a:t>
            </a:r>
            <a:endParaRPr lang="en-US" sz="4400" dirty="0"/>
          </a:p>
        </p:txBody>
      </p:sp>
      <p:sp>
        <p:nvSpPr>
          <p:cNvPr id="5" name="fan-card"/>
          <p:cNvSpPr/>
          <p:nvPr/>
        </p:nvSpPr>
        <p:spPr>
          <a:xfrm rot="-540000">
            <a:off x="8202168" y="1563624"/>
            <a:ext cx="1737360" cy="24688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fan-rank"/>
          <p:cNvSpPr txBox="1"/>
          <p:nvPr/>
        </p:nvSpPr>
        <p:spPr>
          <a:xfrm rot="-540000">
            <a:off x="8293608" y="163677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1600" dirty="0"/>
          </a:p>
        </p:txBody>
      </p:sp>
      <p:sp>
        <p:nvSpPr>
          <p:cNvPr id="7" name="fan-suit"/>
          <p:cNvSpPr txBox="1"/>
          <p:nvPr/>
        </p:nvSpPr>
        <p:spPr>
          <a:xfrm rot="-540000">
            <a:off x="8613648" y="234086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4400" dirty="0"/>
          </a:p>
        </p:txBody>
      </p:sp>
      <p:sp>
        <p:nvSpPr>
          <p:cNvPr id="8" name="fan-card"/>
          <p:cNvSpPr/>
          <p:nvPr/>
        </p:nvSpPr>
        <p:spPr>
          <a:xfrm>
            <a:off x="8769096" y="1417320"/>
            <a:ext cx="1737360" cy="24688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fan-rank"/>
          <p:cNvSpPr txBox="1"/>
          <p:nvPr/>
        </p:nvSpPr>
        <p:spPr>
          <a:xfrm>
            <a:off x="8860536" y="149047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♦</a:t>
            </a:r>
            <a:endParaRPr lang="en-US" sz="1600" dirty="0"/>
          </a:p>
        </p:txBody>
      </p:sp>
      <p:sp>
        <p:nvSpPr>
          <p:cNvPr id="10" name="fan-suit"/>
          <p:cNvSpPr txBox="1"/>
          <p:nvPr/>
        </p:nvSpPr>
        <p:spPr>
          <a:xfrm>
            <a:off x="9180576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♦</a:t>
            </a:r>
            <a:endParaRPr lang="en-US" sz="4400" dirty="0"/>
          </a:p>
        </p:txBody>
      </p:sp>
      <p:sp>
        <p:nvSpPr>
          <p:cNvPr id="11" name="fan-card"/>
          <p:cNvSpPr/>
          <p:nvPr/>
        </p:nvSpPr>
        <p:spPr>
          <a:xfrm rot="540000">
            <a:off x="9336024" y="1563624"/>
            <a:ext cx="1737360" cy="24688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fan-rank"/>
          <p:cNvSpPr txBox="1"/>
          <p:nvPr/>
        </p:nvSpPr>
        <p:spPr>
          <a:xfrm rot="540000">
            <a:off x="9427464" y="163677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♣</a:t>
            </a:r>
            <a:endParaRPr lang="en-US" sz="1600" dirty="0"/>
          </a:p>
        </p:txBody>
      </p:sp>
      <p:sp>
        <p:nvSpPr>
          <p:cNvPr id="13" name="fan-suit"/>
          <p:cNvSpPr txBox="1"/>
          <p:nvPr/>
        </p:nvSpPr>
        <p:spPr>
          <a:xfrm rot="540000">
            <a:off x="9747504" y="234086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♣</a:t>
            </a:r>
            <a:endParaRPr lang="en-US" sz="4400" dirty="0"/>
          </a:p>
        </p:txBody>
      </p:sp>
      <p:sp>
        <p:nvSpPr>
          <p:cNvPr id="14" name="fan-card"/>
          <p:cNvSpPr/>
          <p:nvPr/>
        </p:nvSpPr>
        <p:spPr>
          <a:xfrm rot="1080000">
            <a:off x="9902952" y="1709928"/>
            <a:ext cx="1737360" cy="24688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fan-rank"/>
          <p:cNvSpPr txBox="1"/>
          <p:nvPr/>
        </p:nvSpPr>
        <p:spPr>
          <a:xfrm rot="1080000">
            <a:off x="9994392" y="17830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♠</a:t>
            </a:r>
            <a:endParaRPr lang="en-US" sz="1600" dirty="0"/>
          </a:p>
        </p:txBody>
      </p:sp>
      <p:sp>
        <p:nvSpPr>
          <p:cNvPr id="16" name="fan-suit"/>
          <p:cNvSpPr txBox="1"/>
          <p:nvPr/>
        </p:nvSpPr>
        <p:spPr>
          <a:xfrm rot="1080000">
            <a:off x="10314432" y="24871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♠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858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ARTIFICIAL INTELLIGENCE  ·  PROJECT REVIEW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118872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Rummy</a:t>
            </a:r>
            <a:endParaRPr lang="en-US" sz="5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24028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 AI Agent for 13-Card Indian Rummy using Search and Heuristic Decision-Making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9319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Jobeson Julius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240701217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0" y="39319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Pragadesh 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240701388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2578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Rajalakshmi Engineering College, Chennai  · 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694944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uit"/>
          <p:cNvSpPr txBox="1"/>
          <p:nvPr/>
        </p:nvSpPr>
        <p:spPr>
          <a:xfrm>
            <a:off x="7086600" y="1444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♠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691640"/>
            <a:ext cx="6309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Rummy is a game of skill played by millions, yet digital versions never explain why a move is good, and their bots are black boxes.</a:t>
            </a:r>
            <a:endParaRPr lang="en-US" sz="17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Rummy is a full-stack web game where every computer player is a utility-based AI agent built only from classical AI: backtracking search, memoised bitmask dynamic programming, heuristic simulation and exact probability.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reasoning powers a coach that explains every move, lists helpful cards (outs) and reads what opponents are collecting.</a:t>
            </a:r>
            <a:endParaRPr lang="en-US" sz="1700" dirty="0"/>
          </a:p>
        </p:txBody>
      </p:sp>
      <p:sp>
        <p:nvSpPr>
          <p:cNvPr id="6" name="card"/>
          <p:cNvSpPr/>
          <p:nvPr/>
        </p:nvSpPr>
        <p:spPr>
          <a:xfrm>
            <a:off x="7863840" y="1371600"/>
            <a:ext cx="374904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rgbClr val="D5E3D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uit"/>
          <p:cNvSpPr txBox="1"/>
          <p:nvPr/>
        </p:nvSpPr>
        <p:spPr>
          <a:xfrm>
            <a:off x="11201400" y="1444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15087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8092440" y="217627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7863840" y="2971800"/>
            <a:ext cx="374904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rgbClr val="D5E3D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uit"/>
          <p:cNvSpPr txBox="1"/>
          <p:nvPr/>
        </p:nvSpPr>
        <p:spPr>
          <a:xfrm>
            <a:off x="11201400" y="3044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♦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092440" y="31089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22.6 ms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8092440" y="377647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evaluate a 13-card hand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7863840" y="4572000"/>
            <a:ext cx="374904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rgbClr val="D5E3D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uit"/>
          <p:cNvSpPr txBox="1"/>
          <p:nvPr/>
        </p:nvSpPr>
        <p:spPr>
          <a:xfrm>
            <a:off x="11201400" y="4645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♣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092440" y="47091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65–66%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8092440" y="537667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won by smart agents vs reflex agent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and Objectives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212080" cy="4663440"/>
          </a:xfrm>
          <a:prstGeom prst="roundRect">
            <a:avLst>
              <a:gd name="adj" fmla="val 2353"/>
            </a:avLst>
          </a:prstGeom>
          <a:solidFill>
            <a:srgbClr val="FBEFEF"/>
          </a:solidFill>
          <a:ln w="9525">
            <a:solidFill>
              <a:srgbClr val="FBEF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uit"/>
          <p:cNvSpPr txBox="1"/>
          <p:nvPr/>
        </p:nvSpPr>
        <p:spPr>
          <a:xfrm>
            <a:off x="5349240" y="1444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♠</a:t>
            </a:r>
            <a:endParaRPr lang="en-US" sz="1400" dirty="0"/>
          </a:p>
        </p:txBody>
      </p:sp>
      <p:sp>
        <p:nvSpPr>
          <p:cNvPr id="5" name="icon-circle"/>
          <p:cNvSpPr/>
          <p:nvPr/>
        </p:nvSpPr>
        <p:spPr>
          <a:xfrm>
            <a:off x="822960" y="1645920"/>
            <a:ext cx="685800" cy="685800"/>
          </a:xfrm>
          <a:prstGeom prst="ellipse">
            <a:avLst/>
          </a:prstGeom>
          <a:solidFill>
            <a:srgbClr val="9B2C2C"/>
          </a:solidFill>
          <a:ln w="12700">
            <a:solidFill>
              <a:srgbClr val="9B2C2C"/>
            </a:solidFill>
            <a:prstDash val="solid"/>
          </a:ln>
        </p:spPr>
      </p:sp>
      <p:pic>
        <p:nvPicPr>
          <p:cNvPr id="6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8105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691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1460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Rummy apps are built for real-money play, not learning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explanation of why a move is good or bad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opponents are opaque black boxes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best arrangement of 13 cards is combinatorially hard; naive search is exponential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13716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10" name="icon-circle"/>
          <p:cNvSpPr/>
          <p:nvPr/>
        </p:nvSpPr>
        <p:spPr>
          <a:xfrm>
            <a:off x="6217920" y="2011680"/>
            <a:ext cx="566928" cy="566928"/>
          </a:xfrm>
          <a:prstGeom prst="ellipse">
            <a:avLst/>
          </a:prstGeom>
          <a:solidFill>
            <a:srgbClr val="0F5A3E"/>
          </a:solidFill>
          <a:ln w="12700">
            <a:solidFill>
              <a:srgbClr val="0F5A3E"/>
            </a:solidFill>
            <a:prstDash val="solid"/>
          </a:ln>
        </p:spPr>
      </p:sp>
      <p:pic>
        <p:nvPicPr>
          <p:cNvPr id="11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983" y="214774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49440" y="206654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each bot as a rational agent (PEAS)</a:t>
            </a:r>
            <a:endParaRPr lang="en-US" sz="1700" dirty="0"/>
          </a:p>
        </p:txBody>
      </p:sp>
      <p:sp>
        <p:nvSpPr>
          <p:cNvPr id="13" name="icon-circle"/>
          <p:cNvSpPr/>
          <p:nvPr/>
        </p:nvSpPr>
        <p:spPr>
          <a:xfrm>
            <a:off x="6217920" y="2816352"/>
            <a:ext cx="566928" cy="566928"/>
          </a:xfrm>
          <a:prstGeom prst="ellipse">
            <a:avLst/>
          </a:prstGeom>
          <a:solidFill>
            <a:srgbClr val="0F5A3E"/>
          </a:solidFill>
          <a:ln w="12700">
            <a:solidFill>
              <a:srgbClr val="0F5A3E"/>
            </a:solidFill>
            <a:prstDash val="solid"/>
          </a:ln>
        </p:spPr>
      </p:sp>
      <p:pic>
        <p:nvPicPr>
          <p:cNvPr id="14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3983" y="2952415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949440" y="287121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declarations by backtracking search</a:t>
            </a:r>
            <a:endParaRPr lang="en-US" sz="1700" dirty="0"/>
          </a:p>
        </p:txBody>
      </p:sp>
      <p:sp>
        <p:nvSpPr>
          <p:cNvPr id="16" name="icon-circle"/>
          <p:cNvSpPr/>
          <p:nvPr/>
        </p:nvSpPr>
        <p:spPr>
          <a:xfrm>
            <a:off x="6217920" y="3621024"/>
            <a:ext cx="566928" cy="566928"/>
          </a:xfrm>
          <a:prstGeom prst="ellipse">
            <a:avLst/>
          </a:prstGeom>
          <a:solidFill>
            <a:srgbClr val="0F5A3E"/>
          </a:solidFill>
          <a:ln w="12700">
            <a:solidFill>
              <a:srgbClr val="0F5A3E"/>
            </a:solidFill>
            <a:prstDash val="solid"/>
          </a:ln>
        </p:spPr>
      </p:sp>
      <p:pic>
        <p:nvPicPr>
          <p:cNvPr id="17" name="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3983" y="3757087"/>
            <a:ext cx="294803" cy="29480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949440" y="367588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hands fast with bitmask DP</a:t>
            </a:r>
            <a:endParaRPr lang="en-US" sz="1700" dirty="0"/>
          </a:p>
        </p:txBody>
      </p:sp>
      <p:sp>
        <p:nvSpPr>
          <p:cNvPr id="19" name="icon-circle"/>
          <p:cNvSpPr/>
          <p:nvPr/>
        </p:nvSpPr>
        <p:spPr>
          <a:xfrm>
            <a:off x="6217920" y="4425696"/>
            <a:ext cx="566928" cy="566928"/>
          </a:xfrm>
          <a:prstGeom prst="ellipse">
            <a:avLst/>
          </a:prstGeom>
          <a:solidFill>
            <a:srgbClr val="0F5A3E"/>
          </a:solidFill>
          <a:ln w="12700">
            <a:solidFill>
              <a:srgbClr val="0F5A3E"/>
            </a:solidFill>
            <a:prstDash val="solid"/>
          </a:ln>
        </p:spPr>
      </p:sp>
      <p:pic>
        <p:nvPicPr>
          <p:cNvPr id="20" name="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3983" y="4561759"/>
            <a:ext cx="294803" cy="29480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949440" y="4480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every move with an AI coach</a:t>
            </a:r>
            <a:endParaRPr lang="en-US" sz="1700" dirty="0"/>
          </a:p>
        </p:txBody>
      </p:sp>
      <p:sp>
        <p:nvSpPr>
          <p:cNvPr id="22" name="icon-circle"/>
          <p:cNvSpPr/>
          <p:nvPr/>
        </p:nvSpPr>
        <p:spPr>
          <a:xfrm>
            <a:off x="6217920" y="5230368"/>
            <a:ext cx="566928" cy="566928"/>
          </a:xfrm>
          <a:prstGeom prst="ellipse">
            <a:avLst/>
          </a:prstGeom>
          <a:solidFill>
            <a:srgbClr val="0F5A3E"/>
          </a:solidFill>
          <a:ln w="12700">
            <a:solidFill>
              <a:srgbClr val="0F5A3E"/>
            </a:solidFill>
            <a:prstDash val="solid"/>
          </a:ln>
        </p:spPr>
      </p:sp>
      <p:pic>
        <p:nvPicPr>
          <p:cNvPr id="23" name="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3983" y="5366431"/>
            <a:ext cx="294803" cy="294803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949440" y="528523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with tests and simulated games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(1/2)</a:t>
            </a:r>
            <a:endParaRPr lang="en-US" sz="3200" dirty="0"/>
          </a:p>
        </p:txBody>
      </p:sp>
      <p:graphicFrame>
        <p:nvGraphicFramePr>
          <p:cNvPr id="5" name="li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43484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(authors, year, venue)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Drawback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Kotnik &amp; Kalita (2003)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TD-Rummy vs EVO-Rummy, ICML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Self-play training of Gin Rummy agents with temporal-difference learning and evolution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emerges with no expert knowledge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Opaque neural evaluator; Gin Rummy only, no jokers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Cowling, Powley &amp; Whitehouse (2012)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Set MCTS, IEEE TCIAIG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Monte Carlo tree search over information sets for hidden-card games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General, strong for imperfect information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Thousands of simulations per move; hard to explain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 Hertog &amp; Hulshof (2006)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Solving Rummikub by ILP, Computer Journal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linear programming for optimal meld placement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Provably optimal meld formation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a solver; Rummikub tiles, no wild joker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(2/2)</a:t>
            </a:r>
            <a:endParaRPr lang="en-US" sz="3200" dirty="0"/>
          </a:p>
        </p:txBody>
      </p:sp>
      <p:graphicFrame>
        <p:nvGraphicFramePr>
          <p:cNvPr id="6" name="li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43484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(authors, year, venue)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Drawback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Truong &amp; Neller (2021)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Data-driven Gin Rummy hand evaluation, AAAI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“offensive” score plus Bayesian “defensive” discard 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hand value with opponent 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55.4% vs a simple baseline; black-box 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Saha et al. (2026)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strategy in Indian Rummy, arXiv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MinScore by bitmask DP, MinDist, opponent-aware strategy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metric study of Indian Rummy; &gt;60% wins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metrics; simulation only, no explanation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Mohan (2026)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IRumAI: RL for Indian Rummy, arXiv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 agent with behaviour-cloning warm start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53.9% vs strongest search baseline; 0.33 ms/move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demonstration data; decisions not explainable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34747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uit"/>
          <p:cNvSpPr txBox="1"/>
          <p:nvPr/>
        </p:nvSpPr>
        <p:spPr>
          <a:xfrm>
            <a:off x="3611880" y="1536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1400" dirty="0"/>
          </a:p>
        </p:txBody>
      </p:sp>
      <p:sp>
        <p:nvSpPr>
          <p:cNvPr id="5" name="icon-circle"/>
          <p:cNvSpPr/>
          <p:nvPr/>
        </p:nvSpPr>
        <p:spPr>
          <a:xfrm>
            <a:off x="868680" y="1783080"/>
            <a:ext cx="731520" cy="731520"/>
          </a:xfrm>
          <a:prstGeom prst="ellipse">
            <a:avLst/>
          </a:prstGeom>
          <a:solidFill>
            <a:srgbClr val="0F5A3E"/>
          </a:solidFill>
          <a:ln w="12700">
            <a:solidFill>
              <a:srgbClr val="0F5A3E"/>
            </a:solidFill>
            <a:prstDash val="solid"/>
          </a:ln>
        </p:spPr>
      </p:sp>
      <p:pic>
        <p:nvPicPr>
          <p:cNvPr id="6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5" y="195864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697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Mostly Gin Rummy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29184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Rummy, with its round-specific wild joker and mandatory pure sequence, is barely studied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4297680" y="1463040"/>
            <a:ext cx="34747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uit"/>
          <p:cNvSpPr txBox="1"/>
          <p:nvPr/>
        </p:nvSpPr>
        <p:spPr>
          <a:xfrm>
            <a:off x="7360920" y="1536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♦</a:t>
            </a:r>
            <a:endParaRPr lang="en-US" sz="1400" dirty="0"/>
          </a:p>
        </p:txBody>
      </p:sp>
      <p:sp>
        <p:nvSpPr>
          <p:cNvPr id="11" name="icon-circle"/>
          <p:cNvSpPr/>
          <p:nvPr/>
        </p:nvSpPr>
        <p:spPr>
          <a:xfrm>
            <a:off x="4617720" y="1783080"/>
            <a:ext cx="731520" cy="731520"/>
          </a:xfrm>
          <a:prstGeom prst="ellipse">
            <a:avLst/>
          </a:prstGeom>
          <a:solidFill>
            <a:srgbClr val="0F5A3E"/>
          </a:solidFill>
          <a:ln w="12700">
            <a:solidFill>
              <a:srgbClr val="0F5A3E"/>
            </a:solidFill>
            <a:prstDash val="solid"/>
          </a:ln>
        </p:spPr>
      </p:sp>
      <p:pic>
        <p:nvPicPr>
          <p:cNvPr id="12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285" y="195864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7720" y="2697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Solvers without players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329184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meld optimisation has not been combined with a playing agent and an interactive game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8046720" y="1463040"/>
            <a:ext cx="347472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uit"/>
          <p:cNvSpPr txBox="1"/>
          <p:nvPr/>
        </p:nvSpPr>
        <p:spPr>
          <a:xfrm>
            <a:off x="11109960" y="1536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♣</a:t>
            </a:r>
            <a:endParaRPr lang="en-US" sz="1400" dirty="0"/>
          </a:p>
        </p:txBody>
      </p:sp>
      <p:sp>
        <p:nvSpPr>
          <p:cNvPr id="17" name="icon-circle"/>
          <p:cNvSpPr/>
          <p:nvPr/>
        </p:nvSpPr>
        <p:spPr>
          <a:xfrm>
            <a:off x="8366760" y="1783080"/>
            <a:ext cx="731520" cy="731520"/>
          </a:xfrm>
          <a:prstGeom prst="ellipse">
            <a:avLst/>
          </a:prstGeom>
          <a:solidFill>
            <a:srgbClr val="0F5A3E"/>
          </a:solidFill>
          <a:ln w="12700">
            <a:solidFill>
              <a:srgbClr val="0F5A3E"/>
            </a:solidFill>
            <a:prstDash val="solid"/>
          </a:ln>
        </p:spPr>
      </p:sp>
      <p:pic>
        <p:nvPicPr>
          <p:cNvPr id="18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2325" y="195864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66760" y="2697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explanations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329184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reviewed system explains its decisions to a human learner</a:t>
            </a:r>
            <a:endParaRPr lang="en-US" sz="1500" dirty="0"/>
          </a:p>
        </p:txBody>
      </p:sp>
      <p:sp>
        <p:nvSpPr>
          <p:cNvPr id="21" name="answer"/>
          <p:cNvSpPr/>
          <p:nvPr/>
        </p:nvSpPr>
        <p:spPr>
          <a:xfrm>
            <a:off x="548640" y="507492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Rummy: exact DP hand evaluation + utility-based agents + plain-language explanations, in one playable web app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pic>
        <p:nvPicPr>
          <p:cNvPr id="3" name="architecture-diagram" descr="Layered architecture: presentation, API, game engine, AI core, da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88" y="1280160"/>
            <a:ext cx="7315200" cy="5047488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8732520" y="1371600"/>
            <a:ext cx="28803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869680" y="1426464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UI, coach panel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8732520" y="2350008"/>
            <a:ext cx="28803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869680" y="2404872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13 REST endpoints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8732520" y="3328416"/>
            <a:ext cx="28803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869680" y="338328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engine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Turns, scoring, agents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732520" y="4306824"/>
            <a:ext cx="28803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869680" y="4361688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DP, heuristics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8732520" y="5285232"/>
            <a:ext cx="28803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869680" y="5340096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Cards, 106-card shoe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 as an Intelligent Agent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66928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peas-letter"/>
          <p:cNvSpPr/>
          <p:nvPr/>
        </p:nvSpPr>
        <p:spPr>
          <a:xfrm>
            <a:off x="731520" y="155448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444752"/>
            <a:ext cx="4526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first; otherwise minimise deadwood and total score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548640" y="2542032"/>
            <a:ext cx="566928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peas-letter"/>
          <p:cNvSpPr/>
          <p:nvPr/>
        </p:nvSpPr>
        <p:spPr>
          <a:xfrm>
            <a:off x="731520" y="2724912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7249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615184"/>
            <a:ext cx="4526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106-card shoe, stock, discard pile, wild joker, 2–4 players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548640" y="3712464"/>
            <a:ext cx="566928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peas-letter"/>
          <p:cNvSpPr/>
          <p:nvPr/>
        </p:nvSpPr>
        <p:spPr>
          <a:xfrm>
            <a:off x="731520" y="3895344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89534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785616"/>
            <a:ext cx="4526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from stock or discard pile, discard, declare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548640" y="4882896"/>
            <a:ext cx="566928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peas-letter"/>
          <p:cNvSpPr/>
          <p:nvPr/>
        </p:nvSpPr>
        <p:spPr>
          <a:xfrm>
            <a:off x="731520" y="5065776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0657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956048"/>
            <a:ext cx="45262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hand, open card, discard history, opponents’ pickups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13716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properties</a:t>
            </a:r>
            <a:endParaRPr lang="en-US" sz="2000" dirty="0"/>
          </a:p>
        </p:txBody>
      </p:sp>
      <p:sp>
        <p:nvSpPr>
          <p:cNvPr id="20" name="prop"/>
          <p:cNvSpPr/>
          <p:nvPr/>
        </p:nvSpPr>
        <p:spPr>
          <a:xfrm>
            <a:off x="6675120" y="1920240"/>
            <a:ext cx="493776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9525">
            <a:solidFill>
              <a:srgbClr val="D5E3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1956816"/>
            <a:ext cx="4663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observable  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stock and hands</a:t>
            </a:r>
            <a:endParaRPr lang="en-US" sz="1500" dirty="0"/>
          </a:p>
        </p:txBody>
      </p:sp>
      <p:sp>
        <p:nvSpPr>
          <p:cNvPr id="22" name="prop"/>
          <p:cNvSpPr/>
          <p:nvPr/>
        </p:nvSpPr>
        <p:spPr>
          <a:xfrm>
            <a:off x="6675120" y="2706624"/>
            <a:ext cx="4937760" cy="658368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9525">
            <a:solidFill>
              <a:srgbClr val="D5E3D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0" y="2743200"/>
            <a:ext cx="4663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 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next card</a:t>
            </a:r>
            <a:endParaRPr lang="en-US" sz="1500" dirty="0"/>
          </a:p>
        </p:txBody>
      </p:sp>
      <p:sp>
        <p:nvSpPr>
          <p:cNvPr id="24" name="prop"/>
          <p:cNvSpPr/>
          <p:nvPr/>
        </p:nvSpPr>
        <p:spPr>
          <a:xfrm>
            <a:off x="6675120" y="3493008"/>
            <a:ext cx="493776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9525">
            <a:solidFill>
              <a:srgbClr val="D5E3D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0" y="3529584"/>
            <a:ext cx="4663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 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opponents</a:t>
            </a:r>
            <a:endParaRPr lang="en-US" sz="1500" dirty="0"/>
          </a:p>
        </p:txBody>
      </p:sp>
      <p:sp>
        <p:nvSpPr>
          <p:cNvPr id="26" name="prop"/>
          <p:cNvSpPr/>
          <p:nvPr/>
        </p:nvSpPr>
        <p:spPr>
          <a:xfrm>
            <a:off x="6675120" y="4279392"/>
            <a:ext cx="4937760" cy="658368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9525">
            <a:solidFill>
              <a:srgbClr val="D5E3D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0" y="4315968"/>
            <a:ext cx="4663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 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discard shapes the future</a:t>
            </a:r>
            <a:endParaRPr lang="en-US" sz="1500" dirty="0"/>
          </a:p>
        </p:txBody>
      </p:sp>
      <p:sp>
        <p:nvSpPr>
          <p:cNvPr id="28" name="prop"/>
          <p:cNvSpPr/>
          <p:nvPr/>
        </p:nvSpPr>
        <p:spPr>
          <a:xfrm>
            <a:off x="6675120" y="5065776"/>
            <a:ext cx="493776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9525">
            <a:solidFill>
              <a:srgbClr val="D5E3D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0" y="5102352"/>
            <a:ext cx="4663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&amp; discrete  </a:t>
            </a: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cards and actions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41732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uit"/>
          <p:cNvSpPr txBox="1"/>
          <p:nvPr/>
        </p:nvSpPr>
        <p:spPr>
          <a:xfrm>
            <a:off x="3611880" y="1490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♠</a:t>
            </a:r>
            <a:endParaRPr lang="en-US" sz="1400" dirty="0"/>
          </a:p>
        </p:txBody>
      </p:sp>
      <p:sp>
        <p:nvSpPr>
          <p:cNvPr id="5" name="icon-circle"/>
          <p:cNvSpPr/>
          <p:nvPr/>
        </p:nvSpPr>
        <p:spPr>
          <a:xfrm>
            <a:off x="822960" y="1691640"/>
            <a:ext cx="731520" cy="731520"/>
          </a:xfrm>
          <a:prstGeom prst="ellipse">
            <a:avLst/>
          </a:prstGeom>
          <a:solidFill>
            <a:srgbClr val="0F5A3E"/>
          </a:solidFill>
          <a:ln w="12700">
            <a:solidFill>
              <a:srgbClr val="0F5A3E"/>
            </a:solidFill>
            <a:prstDash val="solid"/>
          </a:ln>
        </p:spPr>
      </p:sp>
      <p:pic>
        <p:nvPicPr>
          <p:cNvPr id="6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5" y="186720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514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19 + TypeScript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535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client, Vite, Tailwind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297680" y="141732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uit"/>
          <p:cNvSpPr txBox="1"/>
          <p:nvPr/>
        </p:nvSpPr>
        <p:spPr>
          <a:xfrm>
            <a:off x="7360920" y="1490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1400" dirty="0"/>
          </a:p>
        </p:txBody>
      </p:sp>
      <p:sp>
        <p:nvSpPr>
          <p:cNvPr id="11" name="icon-circle"/>
          <p:cNvSpPr/>
          <p:nvPr/>
        </p:nvSpPr>
        <p:spPr>
          <a:xfrm>
            <a:off x="4572000" y="1691640"/>
            <a:ext cx="731520" cy="731520"/>
          </a:xfrm>
          <a:prstGeom prst="ellipse">
            <a:avLst/>
          </a:prstGeom>
          <a:solidFill>
            <a:srgbClr val="0F5A3E"/>
          </a:solidFill>
          <a:ln w="12700">
            <a:solidFill>
              <a:srgbClr val="0F5A3E"/>
            </a:solidFill>
            <a:prstDash val="solid"/>
          </a:ln>
        </p:spPr>
      </p:sp>
      <p:pic>
        <p:nvPicPr>
          <p:cNvPr id="12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7565" y="186720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2514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+ FastAPI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29535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REST endpoints, Pydantic models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8046720" y="141732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uit"/>
          <p:cNvSpPr txBox="1"/>
          <p:nvPr/>
        </p:nvSpPr>
        <p:spPr>
          <a:xfrm>
            <a:off x="11109960" y="1490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♦</a:t>
            </a:r>
            <a:endParaRPr lang="en-US" sz="1400" dirty="0"/>
          </a:p>
        </p:txBody>
      </p:sp>
      <p:sp>
        <p:nvSpPr>
          <p:cNvPr id="17" name="icon-circle"/>
          <p:cNvSpPr/>
          <p:nvPr/>
        </p:nvSpPr>
        <p:spPr>
          <a:xfrm>
            <a:off x="8321040" y="1691640"/>
            <a:ext cx="731520" cy="731520"/>
          </a:xfrm>
          <a:prstGeom prst="ellipse">
            <a:avLst/>
          </a:prstGeom>
          <a:solidFill>
            <a:srgbClr val="0F5A3E"/>
          </a:solidFill>
          <a:ln w="12700">
            <a:solidFill>
              <a:srgbClr val="0F5A3E"/>
            </a:solidFill>
            <a:prstDash val="solid"/>
          </a:ln>
        </p:spPr>
      </p:sp>
      <p:pic>
        <p:nvPicPr>
          <p:cNvPr id="18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605" y="186720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21040" y="2514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AI core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29535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Backtracking, bitmask DP, simulation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548640" y="379476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uit"/>
          <p:cNvSpPr txBox="1"/>
          <p:nvPr/>
        </p:nvSpPr>
        <p:spPr>
          <a:xfrm>
            <a:off x="3611880" y="3867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♣</a:t>
            </a:r>
            <a:endParaRPr lang="en-US" sz="1400" dirty="0"/>
          </a:p>
        </p:txBody>
      </p:sp>
      <p:sp>
        <p:nvSpPr>
          <p:cNvPr id="23" name="icon-circle"/>
          <p:cNvSpPr/>
          <p:nvPr/>
        </p:nvSpPr>
        <p:spPr>
          <a:xfrm>
            <a:off x="822960" y="4069080"/>
            <a:ext cx="731520" cy="731520"/>
          </a:xfrm>
          <a:prstGeom prst="ellipse">
            <a:avLst/>
          </a:prstGeom>
          <a:solidFill>
            <a:srgbClr val="0F5A3E"/>
          </a:solidFill>
          <a:ln w="12700">
            <a:solidFill>
              <a:srgbClr val="0F5A3E"/>
            </a:solidFill>
            <a:prstDash val="solid"/>
          </a:ln>
        </p:spPr>
      </p:sp>
      <p:pic>
        <p:nvPicPr>
          <p:cNvPr id="24" name="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525" y="4244645"/>
            <a:ext cx="380390" cy="38039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22960" y="4892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Pytest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822960" y="53309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 automated tests, simulated games</a:t>
            </a:r>
            <a:endParaRPr lang="en-US" sz="1400" dirty="0"/>
          </a:p>
        </p:txBody>
      </p:sp>
      <p:sp>
        <p:nvSpPr>
          <p:cNvPr id="27" name="card"/>
          <p:cNvSpPr/>
          <p:nvPr/>
        </p:nvSpPr>
        <p:spPr>
          <a:xfrm>
            <a:off x="4297680" y="379476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uit"/>
          <p:cNvSpPr txBox="1"/>
          <p:nvPr/>
        </p:nvSpPr>
        <p:spPr>
          <a:xfrm>
            <a:off x="7360920" y="3867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♠</a:t>
            </a:r>
            <a:endParaRPr lang="en-US" sz="1400" dirty="0"/>
          </a:p>
        </p:txBody>
      </p:sp>
      <p:sp>
        <p:nvSpPr>
          <p:cNvPr id="29" name="icon-circle"/>
          <p:cNvSpPr/>
          <p:nvPr/>
        </p:nvSpPr>
        <p:spPr>
          <a:xfrm>
            <a:off x="4572000" y="4069080"/>
            <a:ext cx="731520" cy="731520"/>
          </a:xfrm>
          <a:prstGeom prst="ellipse">
            <a:avLst/>
          </a:prstGeom>
          <a:solidFill>
            <a:srgbClr val="0F5A3E"/>
          </a:solidFill>
          <a:ln w="12700">
            <a:solidFill>
              <a:srgbClr val="0F5A3E"/>
            </a:solidFill>
            <a:prstDash val="solid"/>
          </a:ln>
        </p:spPr>
      </p:sp>
      <p:pic>
        <p:nvPicPr>
          <p:cNvPr id="30" name="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7565" y="4244645"/>
            <a:ext cx="380390" cy="38039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572000" y="4892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UI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4572000" y="53309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and mobile, keyboard play</a:t>
            </a:r>
            <a:endParaRPr lang="en-US" sz="1400" dirty="0"/>
          </a:p>
        </p:txBody>
      </p:sp>
      <p:sp>
        <p:nvSpPr>
          <p:cNvPr id="33" name="card"/>
          <p:cNvSpPr/>
          <p:nvPr/>
        </p:nvSpPr>
        <p:spPr>
          <a:xfrm>
            <a:off x="8046720" y="379476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uit"/>
          <p:cNvSpPr txBox="1"/>
          <p:nvPr/>
        </p:nvSpPr>
        <p:spPr>
          <a:xfrm>
            <a:off x="11109960" y="3867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1400" dirty="0"/>
          </a:p>
        </p:txBody>
      </p:sp>
      <p:sp>
        <p:nvSpPr>
          <p:cNvPr id="35" name="icon-circle"/>
          <p:cNvSpPr/>
          <p:nvPr/>
        </p:nvSpPr>
        <p:spPr>
          <a:xfrm>
            <a:off x="8321040" y="4069080"/>
            <a:ext cx="731520" cy="731520"/>
          </a:xfrm>
          <a:prstGeom prst="ellipse">
            <a:avLst/>
          </a:prstGeom>
          <a:solidFill>
            <a:srgbClr val="0F5A3E"/>
          </a:solidFill>
          <a:ln w="12700">
            <a:solidFill>
              <a:srgbClr val="0F5A3E"/>
            </a:solidFill>
            <a:prstDash val="solid"/>
          </a:ln>
        </p:spPr>
      </p:sp>
      <p:pic>
        <p:nvPicPr>
          <p:cNvPr id="36" name="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6605" y="4244645"/>
            <a:ext cx="380390" cy="38039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321040" y="4892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game loop</a:t>
            </a:r>
            <a:endParaRPr lang="en-US" sz="1800" dirty="0"/>
          </a:p>
        </p:txBody>
      </p:sp>
      <p:sp>
        <p:nvSpPr>
          <p:cNvPr id="38" name="Text 30"/>
          <p:cNvSpPr txBox="1"/>
          <p:nvPr/>
        </p:nvSpPr>
        <p:spPr>
          <a:xfrm>
            <a:off x="8321040" y="53309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paced 950 ms apart, animated</a:t>
            </a:r>
            <a:endParaRPr lang="en-US" sz="14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1: Game Environment and Rules Engine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486400" cy="786384"/>
          </a:xfrm>
          <a:prstGeom prst="roundRect">
            <a:avLst>
              <a:gd name="adj" fmla="val 1395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08176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Fisher–Yates shuffle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Uniform, reproducible 106-card shoe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548640" y="2286000"/>
            <a:ext cx="5486400" cy="786384"/>
          </a:xfrm>
          <a:prstGeom prst="roundRect">
            <a:avLst>
              <a:gd name="adj" fmla="val 1395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322576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Wild-joker cut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cut; printed joker makes Aces wild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548640" y="3200400"/>
            <a:ext cx="5486400" cy="786384"/>
          </a:xfrm>
          <a:prstGeom prst="roundRect">
            <a:avLst>
              <a:gd name="adj" fmla="val 1395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3236976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Meld classification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/ impure sequence, set; Ace low or high, no K-A-2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548640" y="4114800"/>
            <a:ext cx="5486400" cy="786384"/>
          </a:xfrm>
          <a:prstGeom prst="roundRect">
            <a:avLst>
              <a:gd name="adj" fmla="val 1395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4151376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Joker gap filling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_run_feasible checks if jokers can fill a run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548640" y="5029200"/>
            <a:ext cx="5486400" cy="786384"/>
          </a:xfrm>
          <a:prstGeom prst="roundRect">
            <a:avLst>
              <a:gd name="adj" fmla="val 1395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5065776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engine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→ discard / declare; drop 20/40, wrong show 80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6400800" y="1371600"/>
            <a:ext cx="5212080" cy="4443984"/>
          </a:xfrm>
          <a:prstGeom prst="roundRect">
            <a:avLst>
              <a:gd name="adj" fmla="val 2469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Declaration = constraint satisfaction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210312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search(remaining, groups):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remaining empty: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groups if ≥2 seq, ≥1 pure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remaining in dead: FAIL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 ← first remaining card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each valid group g ∋ f: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← search(remaining − g)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 ≠ FAIL: return 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dead.add(remaining)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FAIL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5074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with failure memoisation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2: Hand Evaluation with Bitmask DP</a:t>
            </a:r>
            <a:endParaRPr lang="en-US" sz="3200" dirty="0"/>
          </a:p>
        </p:txBody>
      </p:sp>
      <p:pic>
        <p:nvPicPr>
          <p:cNvPr id="3" name="dp-flow" descr="Flow of the bitmask dynamic pro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25880"/>
            <a:ext cx="4339915" cy="4937760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5760720" y="1371600"/>
            <a:ext cx="5852160" cy="786384"/>
          </a:xfrm>
          <a:prstGeom prst="roundRect">
            <a:avLst>
              <a:gd name="adj" fmla="val 1395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989320" y="1408176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set packing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disjoint melds covering the most points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5760720" y="2286000"/>
            <a:ext cx="5852160" cy="786384"/>
          </a:xfrm>
          <a:prstGeom prst="roundRect">
            <a:avLst>
              <a:gd name="adj" fmla="val 1395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989320" y="2322576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Lowest-undecided-card branching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decided once: deadwood, or joins a meld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5760720" y="3200400"/>
            <a:ext cx="5852160" cy="786384"/>
          </a:xfrm>
          <a:prstGeom prst="roundRect">
            <a:avLst>
              <a:gd name="adj" fmla="val 1395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989320" y="3236976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Memoised state (mask, pure, seqs)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Back-links rebuild the optimal melds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5760720" y="4114800"/>
            <a:ext cx="5852160" cy="786384"/>
          </a:xfrm>
          <a:prstGeom prst="roundRect">
            <a:avLst>
              <a:gd name="adj" fmla="val 1395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989320" y="4151376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passes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(≥1 pure, ≥2 seq), else unconstrained, capped at 80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5760720" y="5029200"/>
            <a:ext cx="5852160" cy="786384"/>
          </a:xfrm>
          <a:prstGeom prst="roundRect">
            <a:avLst>
              <a:gd name="adj" fmla="val 1395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989320" y="5065776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cost (utility)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C(H) = loose points + 30·[no pure] + 15·[&lt; 2 seq]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3: Decision Making, Agents and Coach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2004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uit"/>
          <p:cNvSpPr txBox="1"/>
          <p:nvPr/>
        </p:nvSpPr>
        <p:spPr>
          <a:xfrm>
            <a:off x="3337560" y="1444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♦</a:t>
            </a:r>
            <a:endParaRPr lang="en-US" sz="1400" dirty="0"/>
          </a:p>
        </p:txBody>
      </p:sp>
      <p:sp>
        <p:nvSpPr>
          <p:cNvPr id="5" name="icon-circle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rgbClr val="0F5A3E"/>
          </a:solidFill>
          <a:ln w="12700">
            <a:solidFill>
              <a:srgbClr val="0F5A3E"/>
            </a:solidFill>
            <a:prstDash val="solid"/>
          </a:ln>
        </p:spPr>
      </p:sp>
      <p:pic>
        <p:nvPicPr>
          <p:cNvPr id="6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17538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286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Discard simulation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7004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all 14 discards; rank by (cost, connectivity, −points)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977640" y="1371600"/>
            <a:ext cx="32004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uit"/>
          <p:cNvSpPr txBox="1"/>
          <p:nvPr/>
        </p:nvSpPr>
        <p:spPr>
          <a:xfrm>
            <a:off x="6766560" y="1444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♣</a:t>
            </a:r>
            <a:endParaRPr lang="en-US" sz="1400" dirty="0"/>
          </a:p>
        </p:txBody>
      </p:sp>
      <p:sp>
        <p:nvSpPr>
          <p:cNvPr id="11" name="icon-circle"/>
          <p:cNvSpPr/>
          <p:nvPr/>
        </p:nvSpPr>
        <p:spPr>
          <a:xfrm>
            <a:off x="4206240" y="1600200"/>
            <a:ext cx="640080" cy="640080"/>
          </a:xfrm>
          <a:prstGeom prst="ellipse">
            <a:avLst/>
          </a:prstGeom>
          <a:solidFill>
            <a:srgbClr val="0F5A3E"/>
          </a:solidFill>
          <a:ln w="12700">
            <a:solidFill>
              <a:srgbClr val="0F5A3E"/>
            </a:solidFill>
            <a:prstDash val="solid"/>
          </a:ln>
        </p:spPr>
      </p:sp>
      <p:pic>
        <p:nvPicPr>
          <p:cNvPr id="12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9859" y="175381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06240" y="2286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lookahead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206240" y="267004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open card only if the hand strictly improves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548640" y="3703320"/>
            <a:ext cx="32004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uit"/>
          <p:cNvSpPr txBox="1"/>
          <p:nvPr/>
        </p:nvSpPr>
        <p:spPr>
          <a:xfrm>
            <a:off x="3337560" y="3776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♠</a:t>
            </a:r>
            <a:endParaRPr lang="en-US" sz="1400" dirty="0"/>
          </a:p>
        </p:txBody>
      </p:sp>
      <p:sp>
        <p:nvSpPr>
          <p:cNvPr id="17" name="icon-circle"/>
          <p:cNvSpPr/>
          <p:nvPr/>
        </p:nvSpPr>
        <p:spPr>
          <a:xfrm>
            <a:off x="777240" y="3931920"/>
            <a:ext cx="640080" cy="640080"/>
          </a:xfrm>
          <a:prstGeom prst="ellipse">
            <a:avLst/>
          </a:prstGeom>
          <a:solidFill>
            <a:srgbClr val="0F5A3E"/>
          </a:solidFill>
          <a:ln w="12700">
            <a:solidFill>
              <a:srgbClr val="0F5A3E"/>
            </a:solidFill>
            <a:prstDash val="solid"/>
          </a:ln>
        </p:spPr>
      </p:sp>
      <p:pic>
        <p:nvPicPr>
          <p:cNvPr id="18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59" y="408553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77240" y="4617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probability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777240" y="500176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P(useful) = useful unseen copies ÷ unseen cards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3977640" y="3703320"/>
            <a:ext cx="32004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uit"/>
          <p:cNvSpPr txBox="1"/>
          <p:nvPr/>
        </p:nvSpPr>
        <p:spPr>
          <a:xfrm>
            <a:off x="6766560" y="3776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1400" dirty="0"/>
          </a:p>
        </p:txBody>
      </p:sp>
      <p:sp>
        <p:nvSpPr>
          <p:cNvPr id="23" name="icon-circle"/>
          <p:cNvSpPr/>
          <p:nvPr/>
        </p:nvSpPr>
        <p:spPr>
          <a:xfrm>
            <a:off x="4206240" y="3931920"/>
            <a:ext cx="640080" cy="640080"/>
          </a:xfrm>
          <a:prstGeom prst="ellipse">
            <a:avLst/>
          </a:prstGeom>
          <a:solidFill>
            <a:srgbClr val="0F5A3E"/>
          </a:solidFill>
          <a:ln w="12700">
            <a:solidFill>
              <a:srgbClr val="0F5A3E"/>
            </a:solidFill>
            <a:prstDash val="solid"/>
          </a:ln>
        </p:spPr>
      </p:sp>
      <p:pic>
        <p:nvPicPr>
          <p:cNvPr id="24" name="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9859" y="4085539"/>
            <a:ext cx="332842" cy="33284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206240" y="4617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Coach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4206240" y="5001768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move + reason, outs, opponent reads, move grading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7589520" y="13716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agent designs</a:t>
            </a:r>
            <a:endParaRPr lang="en-US" sz="2000" dirty="0"/>
          </a:p>
        </p:txBody>
      </p:sp>
      <p:sp>
        <p:nvSpPr>
          <p:cNvPr id="28" name="card"/>
          <p:cNvSpPr/>
          <p:nvPr/>
        </p:nvSpPr>
        <p:spPr>
          <a:xfrm>
            <a:off x="7589520" y="1920240"/>
            <a:ext cx="4023360" cy="1207008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9525">
            <a:solidFill>
              <a:srgbClr val="D5E3D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uit"/>
          <p:cNvSpPr txBox="1"/>
          <p:nvPr/>
        </p:nvSpPr>
        <p:spPr>
          <a:xfrm>
            <a:off x="11201400" y="1993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♦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7772400" y="1975104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8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reflex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jokers only; throws highest loose card</a:t>
            </a:r>
            <a:endParaRPr lang="en-US" sz="1800" dirty="0"/>
          </a:p>
        </p:txBody>
      </p:sp>
      <p:sp>
        <p:nvSpPr>
          <p:cNvPr id="31" name="card"/>
          <p:cNvSpPr/>
          <p:nvPr/>
        </p:nvSpPr>
        <p:spPr>
          <a:xfrm>
            <a:off x="7589520" y="3291840"/>
            <a:ext cx="4023360" cy="120700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9525">
            <a:solidFill>
              <a:srgbClr val="D5E3D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uit"/>
          <p:cNvSpPr txBox="1"/>
          <p:nvPr/>
        </p:nvSpPr>
        <p:spPr>
          <a:xfrm>
            <a:off x="11201400" y="33649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♣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7772400" y="3346704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8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Utility-based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Lookahead pick + discard simulation</a:t>
            </a:r>
            <a:endParaRPr lang="en-US" sz="1800" dirty="0"/>
          </a:p>
        </p:txBody>
      </p:sp>
      <p:sp>
        <p:nvSpPr>
          <p:cNvPr id="34" name="card"/>
          <p:cNvSpPr/>
          <p:nvPr/>
        </p:nvSpPr>
        <p:spPr>
          <a:xfrm>
            <a:off x="7589520" y="4663440"/>
            <a:ext cx="4023360" cy="120700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9525">
            <a:solidFill>
              <a:srgbClr val="D5E3D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uit"/>
          <p:cNvSpPr txBox="1"/>
          <p:nvPr/>
        </p:nvSpPr>
        <p:spPr>
          <a:xfrm>
            <a:off x="11201400" y="4736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♠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7772400" y="4718304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8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utility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+ memory of dead cards</a:t>
            </a:r>
            <a:endParaRPr lang="en-US" sz="18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Playing Strength</a:t>
            </a:r>
            <a:endParaRPr lang="en-US" sz="3200" dirty="0"/>
          </a:p>
        </p:txBody>
      </p:sp>
      <p:graphicFrame>
        <p:nvGraphicFramePr>
          <p:cNvPr id="3" name="h2h-chart"/>
          <p:cNvGraphicFramePr/>
          <p:nvPr/>
        </p:nvGraphicFramePr>
        <p:xfrm>
          <a:off x="548640" y="1371600"/>
          <a:ext cx="67665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rd"/>
          <p:cNvSpPr/>
          <p:nvPr/>
        </p:nvSpPr>
        <p:spPr>
          <a:xfrm>
            <a:off x="7680960" y="1371600"/>
            <a:ext cx="3931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uit"/>
          <p:cNvSpPr txBox="1"/>
          <p:nvPr/>
        </p:nvSpPr>
        <p:spPr>
          <a:xfrm>
            <a:off x="11201400" y="1444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909560" y="15087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9418320" y="150876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beats Easy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0.0035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7680960" y="2926080"/>
            <a:ext cx="3931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uit"/>
          <p:cNvSpPr txBox="1"/>
          <p:nvPr/>
        </p:nvSpPr>
        <p:spPr>
          <a:xfrm>
            <a:off x="11201400" y="29992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♦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30632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66%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9418320" y="306324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beats Easy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0.0018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7680960" y="4480560"/>
            <a:ext cx="39319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uit"/>
          <p:cNvSpPr txBox="1"/>
          <p:nvPr/>
        </p:nvSpPr>
        <p:spPr>
          <a:xfrm>
            <a:off x="11201400" y="45537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♣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909560" y="46177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9418320" y="46177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vs Medium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tie: memory rarely changes a move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Speed and Correctness</a:t>
            </a:r>
            <a:endParaRPr lang="en-US" sz="3200" dirty="0"/>
          </a:p>
        </p:txBody>
      </p:sp>
      <p:graphicFrame>
        <p:nvGraphicFramePr>
          <p:cNvPr id="3" name="time-chart"/>
          <p:cNvGraphicFramePr/>
          <p:nvPr/>
        </p:nvGraphicFramePr>
        <p:xfrm>
          <a:off x="54864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rd"/>
          <p:cNvSpPr/>
          <p:nvPr/>
        </p:nvSpPr>
        <p:spPr>
          <a:xfrm>
            <a:off x="8229600" y="1371600"/>
            <a:ext cx="33832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uit"/>
          <p:cNvSpPr txBox="1"/>
          <p:nvPr/>
        </p:nvSpPr>
        <p:spPr>
          <a:xfrm>
            <a:off x="11201400" y="1444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♠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458200" y="148132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 / 123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8458200" y="212140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pass: rules, deck, AI, API, full games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8229600" y="2926080"/>
            <a:ext cx="33832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uit"/>
          <p:cNvSpPr txBox="1"/>
          <p:nvPr/>
        </p:nvSpPr>
        <p:spPr>
          <a:xfrm>
            <a:off x="11201400" y="29992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458200" y="303580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0.3 s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8458200" y="367588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bot decision, far under the 950 ms pause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8229600" y="4480560"/>
            <a:ext cx="33832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uit"/>
          <p:cNvSpPr txBox="1"/>
          <p:nvPr/>
        </p:nvSpPr>
        <p:spPr>
          <a:xfrm>
            <a:off x="11201400" y="45537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♦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458200" y="459028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8458200" y="523036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melds per hand on average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Screenshots (1/3)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5577840" cy="4284663"/>
          </a:xfrm>
          <a:prstGeom prst="roundRect">
            <a:avLst>
              <a:gd name="adj" fmla="val 256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screenshot" descr="Start screen: choose opponents and difficult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394960" cy="337026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924743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screen: choose opponents and difficulty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6126480" y="1371600"/>
            <a:ext cx="5577840" cy="4284663"/>
          </a:xfrm>
          <a:prstGeom prst="roundRect">
            <a:avLst>
              <a:gd name="adj" fmla="val 256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screenshot" descr="Game table with the coach and helpful card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63040"/>
            <a:ext cx="5394960" cy="337026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17920" y="4924743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table with the coach and helpful cards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Screenshots (2/3)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5577840" cy="4284663"/>
          </a:xfrm>
          <a:prstGeom prst="roundRect">
            <a:avLst>
              <a:gd name="adj" fmla="val 256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screenshot" descr="Discard advice with reasoning and move revi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394960" cy="337026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924743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advice with reasoning and move review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6126480" y="1371600"/>
            <a:ext cx="5577840" cy="4284663"/>
          </a:xfrm>
          <a:prstGeom prst="roundRect">
            <a:avLst>
              <a:gd name="adj" fmla="val 256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screenshot" descr="Opponent reads and each bot’s last mov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63040"/>
            <a:ext cx="5394960" cy="337026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17920" y="4924743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Opponent reads and each bot’s last move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Screenshots (3/3)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5577840" cy="4284663"/>
          </a:xfrm>
          <a:prstGeom prst="roundRect">
            <a:avLst>
              <a:gd name="adj" fmla="val 256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screenshot" descr="Declare dialog validates every grou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394960" cy="337026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924743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dialog validates every group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6126480" y="1371600"/>
            <a:ext cx="5577840" cy="4284663"/>
          </a:xfrm>
          <a:prstGeom prst="roundRect">
            <a:avLst>
              <a:gd name="adj" fmla="val 256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screenshot" descr="Round result after a valid declar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63040"/>
            <a:ext cx="5394960" cy="337026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17920" y="4924743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result after a valid declaration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Future Enhancement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486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AI is enough for fast, testable, explainable rummy agents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agents beat the reflex agent in about two-thirds of rounds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takes well under a second and comes with a reason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 automated tests confirm the rules and the algorithms</a:t>
            </a:r>
            <a:endParaRPr lang="en-US" sz="1800" dirty="0"/>
          </a:p>
        </p:txBody>
      </p:sp>
      <p:sp>
        <p:nvSpPr>
          <p:cNvPr id="4" name="future"/>
          <p:cNvSpPr/>
          <p:nvPr/>
        </p:nvSpPr>
        <p:spPr>
          <a:xfrm>
            <a:off x="6492240" y="146304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1A5240"/>
          </a:solidFill>
          <a:ln w="12700">
            <a:solidFill>
              <a:srgbClr val="1A5240"/>
            </a:solidFill>
            <a:prstDash val="solid"/>
          </a:ln>
        </p:spPr>
      </p:sp>
      <p:sp>
        <p:nvSpPr>
          <p:cNvPr id="5" name="icon-circle"/>
          <p:cNvSpPr/>
          <p:nvPr/>
        </p:nvSpPr>
        <p:spPr>
          <a:xfrm>
            <a:off x="6675120" y="1618488"/>
            <a:ext cx="603504" cy="603504"/>
          </a:xfrm>
          <a:prstGeom prst="ellipse">
            <a:avLst/>
          </a:prstGeom>
          <a:solidFill>
            <a:srgbClr val="D4A21C"/>
          </a:solidFill>
          <a:ln w="12700">
            <a:solidFill>
              <a:srgbClr val="D4A21C"/>
            </a:solidFill>
            <a:prstDash val="solid"/>
          </a:ln>
        </p:spPr>
      </p:sp>
      <p:pic>
        <p:nvPicPr>
          <p:cNvPr id="6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961" y="1763329"/>
            <a:ext cx="313822" cy="31382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52360" y="15544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agent with Monte Carlo search (ISMCTS)</a:t>
            </a:r>
            <a:endParaRPr lang="en-US" sz="1600" dirty="0"/>
          </a:p>
        </p:txBody>
      </p:sp>
      <p:sp>
        <p:nvSpPr>
          <p:cNvPr id="8" name="future"/>
          <p:cNvSpPr/>
          <p:nvPr/>
        </p:nvSpPr>
        <p:spPr>
          <a:xfrm>
            <a:off x="6492240" y="2542032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1A5240"/>
          </a:solidFill>
          <a:ln w="12700">
            <a:solidFill>
              <a:srgbClr val="1A5240"/>
            </a:solidFill>
            <a:prstDash val="solid"/>
          </a:ln>
        </p:spPr>
      </p:sp>
      <p:sp>
        <p:nvSpPr>
          <p:cNvPr id="9" name="icon-circle"/>
          <p:cNvSpPr/>
          <p:nvPr/>
        </p:nvSpPr>
        <p:spPr>
          <a:xfrm>
            <a:off x="6675120" y="2697480"/>
            <a:ext cx="603504" cy="603504"/>
          </a:xfrm>
          <a:prstGeom prst="ellipse">
            <a:avLst/>
          </a:prstGeom>
          <a:solidFill>
            <a:srgbClr val="D4A21C"/>
          </a:solidFill>
          <a:ln w="12700">
            <a:solidFill>
              <a:srgbClr val="D4A21C"/>
            </a:solidFill>
            <a:prstDash val="solid"/>
          </a:ln>
        </p:spPr>
      </p:sp>
      <p:pic>
        <p:nvPicPr>
          <p:cNvPr id="10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961" y="2842321"/>
            <a:ext cx="313822" cy="31382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52360" y="2633472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multiplayer over WebSockets</a:t>
            </a:r>
            <a:endParaRPr lang="en-US" sz="1600" dirty="0"/>
          </a:p>
        </p:txBody>
      </p:sp>
      <p:sp>
        <p:nvSpPr>
          <p:cNvPr id="12" name="future"/>
          <p:cNvSpPr/>
          <p:nvPr/>
        </p:nvSpPr>
        <p:spPr>
          <a:xfrm>
            <a:off x="6492240" y="3621024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1A5240"/>
          </a:solidFill>
          <a:ln w="12700">
            <a:solidFill>
              <a:srgbClr val="1A5240"/>
            </a:solidFill>
            <a:prstDash val="solid"/>
          </a:ln>
        </p:spPr>
      </p:sp>
      <p:sp>
        <p:nvSpPr>
          <p:cNvPr id="13" name="icon-circle"/>
          <p:cNvSpPr/>
          <p:nvPr/>
        </p:nvSpPr>
        <p:spPr>
          <a:xfrm>
            <a:off x="6675120" y="3776472"/>
            <a:ext cx="603504" cy="603504"/>
          </a:xfrm>
          <a:prstGeom prst="ellipse">
            <a:avLst/>
          </a:prstGeom>
          <a:solidFill>
            <a:srgbClr val="D4A21C"/>
          </a:solidFill>
          <a:ln w="12700">
            <a:solidFill>
              <a:srgbClr val="D4A21C"/>
            </a:solidFill>
            <a:prstDash val="solid"/>
          </a:ln>
        </p:spPr>
      </p:sp>
      <p:pic>
        <p:nvPicPr>
          <p:cNvPr id="14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9961" y="3921313"/>
            <a:ext cx="313822" cy="31382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452360" y="3712464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opponent model from picks and discards</a:t>
            </a:r>
            <a:endParaRPr lang="en-US" sz="1600" dirty="0"/>
          </a:p>
        </p:txBody>
      </p:sp>
      <p:sp>
        <p:nvSpPr>
          <p:cNvPr id="16" name="future"/>
          <p:cNvSpPr/>
          <p:nvPr/>
        </p:nvSpPr>
        <p:spPr>
          <a:xfrm>
            <a:off x="6492240" y="4700016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1A5240"/>
          </a:solidFill>
          <a:ln w="12700">
            <a:solidFill>
              <a:srgbClr val="1A5240"/>
            </a:solidFill>
            <a:prstDash val="solid"/>
          </a:ln>
        </p:spPr>
      </p:sp>
      <p:sp>
        <p:nvSpPr>
          <p:cNvPr id="17" name="icon-circle"/>
          <p:cNvSpPr/>
          <p:nvPr/>
        </p:nvSpPr>
        <p:spPr>
          <a:xfrm>
            <a:off x="6675120" y="4855464"/>
            <a:ext cx="603504" cy="603504"/>
          </a:xfrm>
          <a:prstGeom prst="ellipse">
            <a:avLst/>
          </a:prstGeom>
          <a:solidFill>
            <a:srgbClr val="D4A21C"/>
          </a:solidFill>
          <a:ln w="12700">
            <a:solidFill>
              <a:srgbClr val="D4A21C"/>
            </a:solidFill>
            <a:prstDash val="solid"/>
          </a:ln>
        </p:spPr>
      </p:sp>
      <p:pic>
        <p:nvPicPr>
          <p:cNvPr id="18" name="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9961" y="5000305"/>
            <a:ext cx="313822" cy="31382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452360" y="4791456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study: does the coach improve play?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4" name="icon-circle"/>
          <p:cNvSpPr/>
          <p:nvPr/>
        </p:nvSpPr>
        <p:spPr>
          <a:xfrm>
            <a:off x="640080" y="393192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411845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388620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on GitHub</a:t>
            </a:r>
            <a:endParaRPr lang="en-US" sz="1800" dirty="0"/>
          </a:p>
          <a:p>
            <a:r>
              <a:rPr lang="en-US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https://github.com/jobeson-j/Rummy-project.git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394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Jobeson Julius (240701217)  ·  Pragadesh S (240701388)</a:t>
            </a:r>
            <a:endParaRPr lang="en-US" sz="1500" dirty="0"/>
          </a:p>
        </p:txBody>
      </p:sp>
      <p:sp>
        <p:nvSpPr>
          <p:cNvPr id="8" name="big-suit"/>
          <p:cNvSpPr txBox="1"/>
          <p:nvPr/>
        </p:nvSpPr>
        <p:spPr>
          <a:xfrm>
            <a:off x="8595360" y="137160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♠</a:t>
            </a:r>
            <a:endParaRPr lang="en-US" sz="9600" dirty="0"/>
          </a:p>
        </p:txBody>
      </p:sp>
      <p:sp>
        <p:nvSpPr>
          <p:cNvPr id="9" name="big-suit"/>
          <p:cNvSpPr txBox="1"/>
          <p:nvPr/>
        </p:nvSpPr>
        <p:spPr>
          <a:xfrm>
            <a:off x="10058400" y="137160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dirty="0">
                <a:solidFill>
                  <a:srgbClr val="E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9600" dirty="0"/>
          </a:p>
        </p:txBody>
      </p:sp>
      <p:sp>
        <p:nvSpPr>
          <p:cNvPr id="10" name="big-suit"/>
          <p:cNvSpPr txBox="1"/>
          <p:nvPr/>
        </p:nvSpPr>
        <p:spPr>
          <a:xfrm>
            <a:off x="8595360" y="310896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dirty="0">
                <a:solidFill>
                  <a:srgbClr val="E0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♦</a:t>
            </a:r>
            <a:endParaRPr lang="en-US" sz="9600" dirty="0"/>
          </a:p>
        </p:txBody>
      </p:sp>
      <p:sp>
        <p:nvSpPr>
          <p:cNvPr id="11" name="big-suit"/>
          <p:cNvSpPr txBox="1"/>
          <p:nvPr/>
        </p:nvSpPr>
        <p:spPr>
          <a:xfrm>
            <a:off x="10058400" y="310896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♣</a:t>
            </a:r>
            <a:endParaRPr lang="en-US" sz="9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Rummy Felt">
  <a:themeElements>
    <a:clrScheme name="Smart Rummy Felt">
      <a:dk1>
        <a:srgbClr val="1B1F1D"/>
      </a:dk1>
      <a:lt1>
        <a:srgbClr val="FFFFFF"/>
      </a:lt1>
      <a:dk2>
        <a:srgbClr val="0F3D2E"/>
      </a:dk2>
      <a:lt2>
        <a:srgbClr val="EEF5F1"/>
      </a:lt2>
      <a:accent1>
        <a:srgbClr val="0F5A3E"/>
      </a:accent1>
      <a:accent2>
        <a:srgbClr val="D4A21C"/>
      </a:accent2>
      <a:accent3>
        <a:srgbClr val="B5651D"/>
      </a:accent3>
      <a:accent4>
        <a:srgbClr val="1F6F8B"/>
      </a:accent4>
      <a:accent5>
        <a:srgbClr val="9B2C2C"/>
      </a:accent5>
      <a:accent6>
        <a:srgbClr val="5B6B63"/>
      </a:accent6>
      <a:hlink>
        <a:srgbClr val="1F6F8B"/>
      </a:hlink>
      <a:folHlink>
        <a:srgbClr val="6B3FA0"/>
      </a:folHlink>
    </a:clrScheme>
    <a:fontScheme name="Smart Rummy Fel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1794</Words>
  <Application>Microsoft Office PowerPoint</Application>
  <PresentationFormat>Widescreen</PresentationFormat>
  <Paragraphs>318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Smart Rummy Felt</vt:lpstr>
      <vt:lpstr>PowerPoint Presentation</vt:lpstr>
      <vt:lpstr>Abstract</vt:lpstr>
      <vt:lpstr>Problem Statement and Objectives</vt:lpstr>
      <vt:lpstr>Literature Survey (1/2)</vt:lpstr>
      <vt:lpstr>Literature Survey (2/2)</vt:lpstr>
      <vt:lpstr>Research Gap</vt:lpstr>
      <vt:lpstr>System Architecture</vt:lpstr>
      <vt:lpstr>The Bot as an Intelligent Agent</vt:lpstr>
      <vt:lpstr>Implementation</vt:lpstr>
      <vt:lpstr>Module 1: Game Environment and Rules Engine</vt:lpstr>
      <vt:lpstr>Module 2: Hand Evaluation with Bitmask DP</vt:lpstr>
      <vt:lpstr>Module 3: Decision Making, Agents and Coach</vt:lpstr>
      <vt:lpstr>Results: Playing Strength</vt:lpstr>
      <vt:lpstr>Results: Speed and Correctness</vt:lpstr>
      <vt:lpstr>Output Screenshots (1/3)</vt:lpstr>
      <vt:lpstr>Output Screenshots (2/3)</vt:lpstr>
      <vt:lpstr>Output Screenshots (3/3)</vt:lpstr>
      <vt:lpstr>Conclusion and Future Enhancement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Rummy – Explainable AI Agent for Indian Rummy</dc:title>
  <dc:subject>PptxGenJS Presentation</dc:subject>
  <dc:creator>Jobeson Julius, Pragadesh S</dc:creator>
  <cp:lastModifiedBy>jobeson julius</cp:lastModifiedBy>
  <cp:revision>1</cp:revision>
  <dcterms:created xsi:type="dcterms:W3CDTF">2026-10-08T16:33:23Z</dcterms:created>
  <dcterms:modified xsi:type="dcterms:W3CDTF">2026-10-08T16:46:56Z</dcterms:modified>
</cp:coreProperties>
</file>